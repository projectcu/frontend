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</p:sldMasterIdLst>
  <p:sldIdLst>
    <p:sldId id="271" r:id="rId2"/>
    <p:sldId id="260" r:id="rId3"/>
    <p:sldId id="261" r:id="rId4"/>
    <p:sldId id="262" r:id="rId5"/>
    <p:sldId id="263" r:id="rId6"/>
    <p:sldId id="264" r:id="rId7"/>
    <p:sldId id="265" r:id="rId8"/>
    <p:sldId id="274" r:id="rId9"/>
    <p:sldId id="275" r:id="rId10"/>
    <p:sldId id="276" r:id="rId11"/>
    <p:sldId id="266" r:id="rId12"/>
    <p:sldId id="277" r:id="rId13"/>
    <p:sldId id="278" r:id="rId14"/>
    <p:sldId id="267" r:id="rId15"/>
    <p:sldId id="268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14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26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30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78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7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29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6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91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249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7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533400"/>
            <a:ext cx="6571343" cy="13203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Cloud-Based CI/CD Pipeline for Microservices Deployment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1400" dirty="0">
                <a:latin typeface="Times New Roman"/>
              </a:rPr>
              <a:t>Submitted in partial fulfillment of the requirements for the award of the degree of</a:t>
            </a:r>
            <a:endParaRPr lang="en-IN" dirty="0"/>
          </a:p>
          <a:p>
            <a:r>
              <a:rPr lang="en-US" sz="1400" dirty="0">
                <a:latin typeface="Times New Roman"/>
              </a:rPr>
              <a:t>Master of Computer Application (MCA)</a:t>
            </a:r>
            <a:endParaRPr lang="en-IN" dirty="0"/>
          </a:p>
          <a:p>
            <a:r>
              <a:rPr lang="en-US" sz="1400" dirty="0">
                <a:latin typeface="Times New Roman"/>
              </a:rPr>
              <a:t>By</a:t>
            </a:r>
            <a:endParaRPr lang="en-IN" dirty="0"/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IN" sz="1400" i="0" dirty="0">
                <a:solidFill>
                  <a:srgbClr val="2121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Saloni Kumari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 O24MCA110660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Guide/Mentor Name: Vasanthi Chandran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24D5D-678E-8AE1-5219-B3A8C36C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33" y="70962"/>
            <a:ext cx="2365560" cy="4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/>
              </a:rP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Project Topic Overview</a:t>
            </a:r>
            <a:endParaRPr lang="en-US" sz="1400" dirty="0">
              <a:latin typeface="Times New Roman"/>
            </a:endParaRPr>
          </a:p>
          <a:p>
            <a:pPr lvl="1"/>
            <a:r>
              <a:rPr lang="en-US" sz="1400" dirty="0">
                <a:latin typeface="Times New Roman"/>
              </a:rPr>
              <a:t>Implements a microservices-based CI/CD deployment system using Azure Kubernetes Service (AKS)</a:t>
            </a:r>
          </a:p>
          <a:p>
            <a:pPr lvl="1"/>
            <a:r>
              <a:rPr lang="en-US" sz="1400" dirty="0">
                <a:latin typeface="Times New Roman"/>
              </a:rPr>
              <a:t>Uses GitHub Actions for automated build, test, and multi-environment deployment (dev, stage, prod)</a:t>
            </a:r>
          </a:p>
          <a:p>
            <a:pPr lvl="1"/>
            <a:r>
              <a:rPr lang="en-US" sz="1400" dirty="0">
                <a:latin typeface="Times New Roman"/>
              </a:rPr>
              <a:t>Utilizes Docker and Azure Container Registry (ACR) for containerization and image management</a:t>
            </a:r>
          </a:p>
          <a:p>
            <a:pPr lvl="1"/>
            <a:r>
              <a:rPr lang="en-US" sz="1400" dirty="0">
                <a:latin typeface="Times New Roman"/>
              </a:rPr>
              <a:t>Incorporates Kubernetes features like services, ingress, and HPA for communication, access, and scaling</a:t>
            </a:r>
          </a:p>
          <a:p>
            <a:pPr lvl="1"/>
            <a:r>
              <a:rPr lang="en-US" sz="1400" dirty="0">
                <a:latin typeface="Times New Roman"/>
              </a:rPr>
              <a:t>Integrates monitoring (Grafana, Prometheus) and RBAC (Azure AD) for observability and secure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F05E6-4A87-0216-D570-AC8AA16E8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748977"/>
          </a:xfrm>
        </p:spPr>
        <p:txBody>
          <a:bodyPr/>
          <a:lstStyle/>
          <a:p>
            <a:pPr algn="ctr"/>
            <a:r>
              <a:rPr sz="3000" dirty="0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37747"/>
          </a:xfrm>
        </p:spPr>
        <p:txBody>
          <a:bodyPr>
            <a:normAutofit fontScale="92500" lnSpcReduction="10000"/>
          </a:bodyPr>
          <a:lstStyle/>
          <a:p>
            <a:r>
              <a:rPr lang="en-US" sz="1400" dirty="0">
                <a:latin typeface="Times New Roman"/>
              </a:rPr>
              <a:t> </a:t>
            </a:r>
            <a:r>
              <a:rPr sz="1400" dirty="0">
                <a:latin typeface="Times New Roman"/>
              </a:rPr>
              <a:t>Project Background</a:t>
            </a:r>
            <a:r>
              <a:rPr lang="en-US" sz="1400" dirty="0">
                <a:latin typeface="Times New Roman"/>
              </a:rPr>
              <a:t> 	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Problem Definition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Manual deployments are time-consuming and error-prone</a:t>
            </a:r>
          </a:p>
          <a:p>
            <a:pPr lvl="2"/>
            <a:r>
              <a:rPr lang="en-US" sz="1400" dirty="0">
                <a:latin typeface="Times New Roman"/>
              </a:rPr>
              <a:t>Lack of automation and </a:t>
            </a:r>
            <a:r>
              <a:rPr lang="en-US" sz="1400" dirty="0" err="1">
                <a:latin typeface="Times New Roman"/>
              </a:rPr>
              <a:t>monitoring</a:t>
            </a:r>
            <a:r>
              <a:rPr sz="1400" dirty="0" err="1">
                <a:latin typeface="Times New Roman"/>
              </a:rPr>
              <a:t>Objectives</a:t>
            </a:r>
            <a:endParaRPr sz="1400" dirty="0">
              <a:latin typeface="Times New Roman"/>
            </a:endParaRPr>
          </a:p>
          <a:p>
            <a:pPr lvl="1"/>
            <a:r>
              <a:rPr lang="en-US" sz="1400" dirty="0">
                <a:latin typeface="Times New Roman"/>
              </a:rPr>
              <a:t>Objectives</a:t>
            </a:r>
          </a:p>
          <a:p>
            <a:pPr lvl="2"/>
            <a:r>
              <a:rPr lang="en-US" sz="1400" dirty="0">
                <a:latin typeface="Times New Roman"/>
              </a:rPr>
              <a:t>Automate build, test, and deployment using CI/CD</a:t>
            </a:r>
          </a:p>
          <a:p>
            <a:pPr lvl="2"/>
            <a:r>
              <a:rPr lang="en-US" sz="1400" dirty="0">
                <a:latin typeface="Times New Roman"/>
              </a:rPr>
              <a:t>Deploy microservices on Azure Kubernetes Service (AKS)</a:t>
            </a:r>
          </a:p>
          <a:p>
            <a:pPr lvl="2"/>
            <a:r>
              <a:rPr lang="en-US" sz="1400" dirty="0">
                <a:latin typeface="Times New Roman"/>
              </a:rPr>
              <a:t>Implement monitoring and secure access</a:t>
            </a:r>
          </a:p>
          <a:p>
            <a:pPr lvl="1"/>
            <a:r>
              <a:rPr lang="en-IN" sz="1400" dirty="0">
                <a:latin typeface="Times New Roman"/>
              </a:rPr>
              <a:t>Scope</a:t>
            </a:r>
          </a:p>
          <a:p>
            <a:pPr lvl="2"/>
            <a:r>
              <a:rPr lang="en-US" sz="1400" dirty="0">
                <a:latin typeface="Times New Roman"/>
              </a:rPr>
              <a:t>Supports dev, stage, and production environments</a:t>
            </a:r>
          </a:p>
          <a:p>
            <a:pPr lvl="2"/>
            <a:r>
              <a:rPr lang="en-US" sz="1400" dirty="0">
                <a:latin typeface="Times New Roman"/>
              </a:rPr>
              <a:t>Covers frontend and backend microservices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Technology Overview</a:t>
            </a:r>
            <a:endParaRPr lang="en-US" sz="1400" dirty="0">
              <a:latin typeface="Times New Roman"/>
            </a:endParaRPr>
          </a:p>
          <a:p>
            <a:pPr lvl="2"/>
            <a:r>
              <a:rPr lang="en-IN" sz="1400" dirty="0">
                <a:latin typeface="Times New Roman"/>
              </a:rPr>
              <a:t>AKS, Docker, GitHub Actions</a:t>
            </a:r>
          </a:p>
          <a:p>
            <a:pPr lvl="2"/>
            <a:r>
              <a:rPr lang="en-IN" sz="1400" dirty="0">
                <a:latin typeface="Times New Roman"/>
              </a:rPr>
              <a:t>Grafana, Prometheus, Azure SQL</a:t>
            </a:r>
            <a:endParaRPr sz="1400" dirty="0">
              <a:latin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572BB-22F1-5D8D-897C-A2B8A260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67" y="70962"/>
            <a:ext cx="2424825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3913119"/>
          </a:xfrm>
        </p:spPr>
        <p:txBody>
          <a:bodyPr>
            <a:normAutofit fontScale="92500" lnSpcReduction="20000"/>
          </a:bodyPr>
          <a:lstStyle/>
          <a:p>
            <a:r>
              <a:rPr sz="1400" dirty="0">
                <a:latin typeface="Times New Roman"/>
              </a:rPr>
              <a:t>Existing System</a:t>
            </a:r>
          </a:p>
          <a:p>
            <a:pPr lvl="1"/>
            <a:r>
              <a:rPr sz="1400" dirty="0">
                <a:latin typeface="Times New Roman"/>
              </a:rPr>
              <a:t>Limitations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Manual deployments are time-consuming and error-prone</a:t>
            </a:r>
          </a:p>
          <a:p>
            <a:pPr lvl="2"/>
            <a:r>
              <a:rPr lang="en-US" sz="1400" dirty="0">
                <a:latin typeface="Times New Roman"/>
              </a:rPr>
              <a:t>No automated CI/CD or rollback mechanism</a:t>
            </a:r>
          </a:p>
          <a:p>
            <a:pPr lvl="2"/>
            <a:r>
              <a:rPr lang="en-US" sz="1400" dirty="0">
                <a:latin typeface="Times New Roman"/>
              </a:rPr>
              <a:t>Limited monitoring and system visibility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Feasibility Study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Technically feasible using Azure cloud and AKS</a:t>
            </a:r>
          </a:p>
          <a:p>
            <a:pPr lvl="2"/>
            <a:r>
              <a:rPr lang="en-US" sz="1400" dirty="0">
                <a:latin typeface="Times New Roman"/>
              </a:rPr>
              <a:t>Economically feasible with cloud free tiers</a:t>
            </a:r>
          </a:p>
          <a:p>
            <a:pPr lvl="2"/>
            <a:r>
              <a:rPr lang="en-US" sz="1400" dirty="0">
                <a:latin typeface="Times New Roman"/>
              </a:rPr>
              <a:t>Operationally efficient due to automation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Requirement Gathering</a:t>
            </a:r>
            <a:endParaRPr lang="en-US" sz="1400" dirty="0">
              <a:latin typeface="Times New Roman"/>
            </a:endParaRPr>
          </a:p>
          <a:p>
            <a:pPr lvl="2"/>
            <a:r>
              <a:rPr lang="en-IN" sz="1400" dirty="0">
                <a:latin typeface="Times New Roman"/>
              </a:rPr>
              <a:t>CI/CD pipeline for automated deployment</a:t>
            </a:r>
          </a:p>
          <a:p>
            <a:pPr lvl="2"/>
            <a:r>
              <a:rPr lang="en-IN" sz="1400" dirty="0">
                <a:latin typeface="Times New Roman"/>
              </a:rPr>
              <a:t>Cloud infrastructure using AKS</a:t>
            </a:r>
          </a:p>
          <a:p>
            <a:pPr lvl="2"/>
            <a:r>
              <a:rPr lang="en-IN" sz="1400" dirty="0">
                <a:latin typeface="Times New Roman"/>
              </a:rPr>
              <a:t>Monitoring using Grafana &amp; Prometheus</a:t>
            </a:r>
          </a:p>
          <a:p>
            <a:pPr lvl="2"/>
            <a:r>
              <a:rPr lang="en-IN" sz="1400" dirty="0">
                <a:latin typeface="Times New Roman"/>
              </a:rPr>
              <a:t>Secure access using RBAC (Azure AD)</a:t>
            </a:r>
            <a:endParaRPr sz="14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6B2B0E-E40D-07F6-2D28-3E8A4056C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771305"/>
          </a:xfrm>
        </p:spPr>
        <p:txBody>
          <a:bodyPr>
            <a:normAutofit/>
          </a:bodyPr>
          <a:lstStyle/>
          <a:p>
            <a:r>
              <a:rPr sz="1400" dirty="0">
                <a:latin typeface="Times New Roman"/>
              </a:rPr>
              <a:t>Requirement Analysis</a:t>
            </a:r>
          </a:p>
          <a:p>
            <a:pPr lvl="1"/>
            <a:r>
              <a:rPr sz="1400" dirty="0">
                <a:latin typeface="Times New Roman"/>
              </a:rPr>
              <a:t>Functional Requirements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Automated build, test, and deployment using CI/CD</a:t>
            </a:r>
          </a:p>
          <a:p>
            <a:pPr lvl="2"/>
            <a:r>
              <a:rPr lang="en-US" sz="1400" dirty="0">
                <a:latin typeface="Times New Roman"/>
              </a:rPr>
              <a:t>Deployment of frontend and backend microservices on AKS</a:t>
            </a:r>
          </a:p>
          <a:p>
            <a:pPr lvl="2"/>
            <a:r>
              <a:rPr lang="en-US" sz="1400" dirty="0">
                <a:latin typeface="Times New Roman"/>
              </a:rPr>
              <a:t>Monitoring dashboards for system and deployment status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Non-Functional Requirements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High availability and scalability</a:t>
            </a:r>
          </a:p>
          <a:p>
            <a:pPr lvl="2"/>
            <a:r>
              <a:rPr lang="en-US" sz="1400" dirty="0">
                <a:latin typeface="Times New Roman"/>
              </a:rPr>
              <a:t>Secure access using RBAC (Azure AD)</a:t>
            </a:r>
          </a:p>
          <a:p>
            <a:pPr lvl="2"/>
            <a:r>
              <a:rPr lang="en-US" sz="1400" dirty="0">
                <a:latin typeface="Times New Roman"/>
              </a:rPr>
              <a:t>Reliable and efficient system performance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DFD / Use Case Diagrams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Represents CI/CD workflow and deployment process</a:t>
            </a:r>
          </a:p>
          <a:p>
            <a:pPr lvl="2"/>
            <a:r>
              <a:rPr lang="en-US" sz="1400" dirty="0">
                <a:latin typeface="Times New Roman"/>
              </a:rPr>
              <a:t>Actors: Developer, DevOps Engineer, System</a:t>
            </a:r>
            <a:endParaRPr sz="1400" dirty="0"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A6A8D-C47C-2FDE-1092-13FD93E1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303D7D-F1B9-9395-9C5D-060452509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5541514"/>
            <a:ext cx="3962399" cy="1023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053" y="1853755"/>
            <a:ext cx="7521676" cy="4199725"/>
          </a:xfrm>
        </p:spPr>
        <p:txBody>
          <a:bodyPr>
            <a:noAutofit/>
          </a:bodyPr>
          <a:lstStyle/>
          <a:p>
            <a:r>
              <a:rPr sz="1200" dirty="0">
                <a:latin typeface="Times New Roman"/>
              </a:rPr>
              <a:t>System Architecture</a:t>
            </a:r>
          </a:p>
          <a:p>
            <a:pPr lvl="1"/>
            <a:r>
              <a:rPr lang="en-IN" sz="1200" dirty="0">
                <a:latin typeface="Times New Roman"/>
              </a:rPr>
              <a:t>CI/CD Pipeline</a:t>
            </a:r>
          </a:p>
          <a:p>
            <a:pPr lvl="2"/>
            <a:r>
              <a:rPr lang="en-US" sz="1200" dirty="0">
                <a:latin typeface="Times New Roman"/>
              </a:rPr>
              <a:t>Implemented using GitHub Actions</a:t>
            </a:r>
          </a:p>
          <a:p>
            <a:pPr lvl="2"/>
            <a:r>
              <a:rPr lang="en-US" sz="1200" dirty="0">
                <a:latin typeface="Times New Roman"/>
              </a:rPr>
              <a:t>Automated workflow: Build → Test → Docker → Deploy</a:t>
            </a:r>
          </a:p>
          <a:p>
            <a:pPr lvl="2"/>
            <a:r>
              <a:rPr lang="en-US" sz="1200" dirty="0">
                <a:latin typeface="Times New Roman"/>
              </a:rPr>
              <a:t>Supports dev, stage, and production environments</a:t>
            </a:r>
          </a:p>
          <a:p>
            <a:pPr lvl="2"/>
            <a:r>
              <a:rPr lang="en-US" sz="1200" dirty="0">
                <a:latin typeface="Times New Roman"/>
              </a:rPr>
              <a:t>Integrated with ACR and AKS for deployment</a:t>
            </a:r>
            <a:endParaRPr sz="1200" dirty="0">
              <a:latin typeface="Times New Roman"/>
            </a:endParaRPr>
          </a:p>
          <a:p>
            <a:pPr lvl="1"/>
            <a:r>
              <a:rPr lang="en-IN" sz="1200" dirty="0">
                <a:latin typeface="Times New Roman"/>
              </a:rPr>
              <a:t>AKS Architecture</a:t>
            </a:r>
          </a:p>
          <a:p>
            <a:pPr lvl="2"/>
            <a:r>
              <a:rPr lang="en-IN" sz="1200" dirty="0">
                <a:latin typeface="Times New Roman"/>
              </a:rPr>
              <a:t>Microservices deployed on Azure Kubernetes Service</a:t>
            </a:r>
          </a:p>
          <a:p>
            <a:pPr lvl="2"/>
            <a:r>
              <a:rPr lang="en-IN" sz="1200" dirty="0">
                <a:latin typeface="Times New Roman"/>
              </a:rPr>
              <a:t>Separate namespaces: dev, stage, prod</a:t>
            </a:r>
          </a:p>
          <a:p>
            <a:pPr lvl="2"/>
            <a:r>
              <a:rPr lang="en-IN" sz="1200" dirty="0">
                <a:latin typeface="Times New Roman"/>
              </a:rPr>
              <a:t>Uses Ingress for external access</a:t>
            </a:r>
          </a:p>
          <a:p>
            <a:pPr lvl="2"/>
            <a:r>
              <a:rPr lang="en-IN" sz="1200" dirty="0">
                <a:latin typeface="Times New Roman"/>
              </a:rPr>
              <a:t>HPA configured for automatic scaling</a:t>
            </a:r>
            <a:endParaRPr sz="1200" dirty="0">
              <a:latin typeface="Times New Roman"/>
            </a:endParaRPr>
          </a:p>
          <a:p>
            <a:pPr lvl="1"/>
            <a:r>
              <a:rPr lang="en-IN" sz="1200" dirty="0">
                <a:latin typeface="Times New Roman"/>
              </a:rPr>
              <a:t>Monitoring Architecture</a:t>
            </a:r>
          </a:p>
          <a:p>
            <a:pPr lvl="2"/>
            <a:r>
              <a:rPr lang="en-US" sz="1200" dirty="0">
                <a:latin typeface="Times New Roman"/>
              </a:rPr>
              <a:t>Prometheus collects system and application metrics</a:t>
            </a:r>
          </a:p>
          <a:p>
            <a:pPr lvl="2"/>
            <a:r>
              <a:rPr lang="en-US" sz="1200" dirty="0">
                <a:latin typeface="Times New Roman"/>
              </a:rPr>
              <a:t>Grafana provides dashboards for visualization</a:t>
            </a:r>
          </a:p>
          <a:p>
            <a:pPr lvl="2"/>
            <a:r>
              <a:rPr lang="en-US" sz="1200" dirty="0">
                <a:latin typeface="Times New Roman"/>
              </a:rPr>
              <a:t>Integrated with Azure Monitor for logs</a:t>
            </a:r>
            <a:endParaRPr sz="1200" dirty="0"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900C14-7F29-7C00-5E26-7C0371B2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Technology Stack</a:t>
            </a:r>
          </a:p>
          <a:p>
            <a:pPr lvl="1"/>
            <a:r>
              <a:rPr sz="1400" dirty="0">
                <a:latin typeface="Times New Roman"/>
              </a:rPr>
              <a:t>Module Development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Frontend developed using React</a:t>
            </a:r>
          </a:p>
          <a:p>
            <a:pPr lvl="2"/>
            <a:r>
              <a:rPr lang="en-US" sz="1400" dirty="0">
                <a:latin typeface="Times New Roman"/>
              </a:rPr>
              <a:t>Backend developed using Spring Boot APIs</a:t>
            </a:r>
          </a:p>
          <a:p>
            <a:pPr lvl="2"/>
            <a:r>
              <a:rPr lang="en-US" sz="1400" dirty="0">
                <a:latin typeface="Times New Roman"/>
              </a:rPr>
              <a:t>CI/CD pipelines created using GitHub Actions</a:t>
            </a:r>
          </a:p>
          <a:p>
            <a:pPr lvl="2"/>
            <a:r>
              <a:rPr lang="en-US" sz="1400" dirty="0">
                <a:latin typeface="Times New Roman"/>
              </a:rPr>
              <a:t>Separate workflows for deployment and rollback</a:t>
            </a:r>
          </a:p>
          <a:p>
            <a:pPr lvl="2"/>
            <a:endParaRPr sz="1400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20D82-E6E8-6E30-5677-CD77AA05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88CCC2-BD90-25F5-FB16-B402E3A47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4395019"/>
            <a:ext cx="4100051" cy="1482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2E002B-312C-D4CA-3411-A107FA2D2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718" y="4395019"/>
            <a:ext cx="4647910" cy="1482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E8DA-74D9-20C2-A54E-52375EF5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8A138-C59E-3386-E1F3-ECE240BC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/ AKS Integration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deployed on Azure Kubernetes Service (AKS)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images stored in Azure Container Registry (ACR)</a:t>
            </a:r>
          </a:p>
          <a:p>
            <a:pPr lvl="1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</a:t>
            </a: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(dev, stage, prod)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169A7-6B1E-E084-3844-0B9040D11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3429000"/>
            <a:ext cx="4080387" cy="2256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799C85-550F-978A-3C10-B556AF214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690" y="3429000"/>
            <a:ext cx="4591665" cy="225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92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5CAEA-0B1D-185A-2197-009F2AC6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3C6E0-57B7-48C7-E7A6-02B50D8AF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Integration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with Azure SQL for data storage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Azure AD for role-based access control (RBAC)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F9C3F-9BCE-6B6E-7C98-8856CEE60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8" y="3429000"/>
            <a:ext cx="4178711" cy="2322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FD1D56-C0F7-4099-2CA4-D781E05B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23" y="3428999"/>
            <a:ext cx="4689988" cy="232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89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2EC0-453B-9D3B-D61C-B897662FA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7418B-C6A5-0CC1-C033-AF6125150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Monitoring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deployment using CI/CD pipelines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using Prometheus and Grafana dashboards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insights using Azure Monitor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3983A-CDB5-342F-0C14-246B5398D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3537103"/>
            <a:ext cx="4404851" cy="2342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0AFB3-6849-B6C4-A574-3554991FB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828" y="3537102"/>
            <a:ext cx="4404849" cy="234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9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dirty="0">
                <a:latin typeface="Times New Roman"/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400" dirty="0">
                <a:latin typeface="Times New Roman"/>
              </a:rPr>
              <a:t>Test Cases</a:t>
            </a:r>
          </a:p>
          <a:p>
            <a:pPr lvl="1"/>
            <a:r>
              <a:rPr lang="en-US" sz="1400" dirty="0">
                <a:latin typeface="Times New Roman"/>
              </a:rPr>
              <a:t>CI/CD pipeline execution validation (build, test, deploy stages)</a:t>
            </a:r>
          </a:p>
          <a:p>
            <a:pPr lvl="1"/>
            <a:endParaRPr lang="en-US" sz="1400" dirty="0">
              <a:latin typeface="Times New Roman"/>
            </a:endParaRPr>
          </a:p>
          <a:p>
            <a:pPr lvl="1"/>
            <a:endParaRPr lang="en-US" sz="1400" dirty="0">
              <a:latin typeface="Times New Roman"/>
            </a:endParaRPr>
          </a:p>
          <a:p>
            <a:pPr lvl="1"/>
            <a:endParaRPr lang="en-US" sz="1400" dirty="0">
              <a:latin typeface="Times New Roman"/>
            </a:endParaRPr>
          </a:p>
          <a:p>
            <a:pPr lvl="1"/>
            <a:r>
              <a:rPr lang="en-US" sz="1400" dirty="0">
                <a:latin typeface="Times New Roman"/>
              </a:rPr>
              <a:t>Deployment success verification across dev, stage, and prod environments</a:t>
            </a:r>
          </a:p>
          <a:p>
            <a:pPr lvl="1"/>
            <a:endParaRPr lang="en-US" sz="1400" dirty="0">
              <a:latin typeface="Times New Roman"/>
            </a:endParaRPr>
          </a:p>
          <a:p>
            <a:pPr lvl="1"/>
            <a:endParaRPr lang="en-US" sz="1400" dirty="0">
              <a:latin typeface="Times New Roman"/>
            </a:endParaRPr>
          </a:p>
          <a:p>
            <a:pPr lvl="1"/>
            <a:endParaRPr sz="1400" dirty="0"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7D352-86FA-6DFD-5870-3CD399FB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8FF11-E3D5-6951-753B-D9BDC9865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94" y="2622408"/>
            <a:ext cx="6213988" cy="1049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9B00A-4987-AA84-6A89-32EA40C26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95" y="4064933"/>
            <a:ext cx="6213987" cy="1211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4248-A731-E0B2-0BED-B0B364DE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/>
              </a:rPr>
              <a:t>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F391-AB20-1A07-8170-383F01569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accessibility via Ingress URLs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FADA5-0F1E-517C-B15B-0EF67FE8F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39" y="2379407"/>
            <a:ext cx="6125496" cy="1049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55178F-0F00-2CD8-A6F3-F5D79FCEF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639" y="3506877"/>
            <a:ext cx="6125496" cy="1049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B36F64-D217-1196-AAE7-F46D5416E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639" y="4634347"/>
            <a:ext cx="6125496" cy="1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7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1732-50ED-384F-9A25-6B87286C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A879-84C3-029E-C44D-45B90624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/>
              </a:rPr>
              <a:t>Testing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73B7D-93B4-3B16-3BFE-D7899A730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validation using Grafana dashboards and Azure log storage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7D7AE-AE30-B812-F169-1F167A5E4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5" y="2851354"/>
            <a:ext cx="4292855" cy="30277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F6116C-F652-E482-DA86-366144BA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68" y="2851354"/>
            <a:ext cx="4572132" cy="302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6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37747"/>
          </a:xfrm>
        </p:spPr>
        <p:txBody>
          <a:bodyPr>
            <a:normAutofit lnSpcReduction="10000"/>
          </a:bodyPr>
          <a:lstStyle/>
          <a:p>
            <a:r>
              <a:rPr sz="1400" dirty="0">
                <a:latin typeface="Times New Roman"/>
              </a:rPr>
              <a:t>System Output</a:t>
            </a:r>
          </a:p>
          <a:p>
            <a:pPr lvl="1"/>
            <a:r>
              <a:rPr sz="1400" dirty="0">
                <a:latin typeface="Times New Roman"/>
              </a:rPr>
              <a:t>Performance Analysis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Faster deployments using automated CI/CD pipelines</a:t>
            </a:r>
          </a:p>
          <a:p>
            <a:pPr lvl="2"/>
            <a:r>
              <a:rPr lang="en-US" sz="1400" dirty="0">
                <a:latin typeface="Times New Roman"/>
              </a:rPr>
              <a:t>Efficient resource usage with Kubernetes HPA scaling</a:t>
            </a:r>
          </a:p>
          <a:p>
            <a:pPr lvl="2"/>
            <a:r>
              <a:rPr lang="en-US" sz="1400" dirty="0">
                <a:latin typeface="Times New Roman"/>
              </a:rPr>
              <a:t>Improved reliability through monitoring and logging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Advantages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Reduced manual effort and deployment errors</a:t>
            </a:r>
          </a:p>
          <a:p>
            <a:pPr lvl="2"/>
            <a:r>
              <a:rPr lang="en-US" sz="1400" dirty="0">
                <a:latin typeface="Times New Roman"/>
              </a:rPr>
              <a:t>Scalable and highly available system</a:t>
            </a:r>
          </a:p>
          <a:p>
            <a:pPr lvl="2"/>
            <a:r>
              <a:rPr lang="en-US" sz="1400" dirty="0">
                <a:latin typeface="Times New Roman"/>
              </a:rPr>
              <a:t>Real-time monitoring using Grafana dashboards</a:t>
            </a:r>
          </a:p>
          <a:p>
            <a:pPr lvl="2"/>
            <a:r>
              <a:rPr lang="en-US" sz="1400" dirty="0">
                <a:latin typeface="Times New Roman"/>
              </a:rPr>
              <a:t>Quick recovery using rollback pipelines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Comparison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Traditional system: manual, slow, error-prone deployments</a:t>
            </a:r>
          </a:p>
          <a:p>
            <a:pPr lvl="2"/>
            <a:r>
              <a:rPr lang="en-US" sz="1400" dirty="0">
                <a:latin typeface="Times New Roman"/>
              </a:rPr>
              <a:t>Proposed system: automated, scalable, and reliable</a:t>
            </a:r>
            <a:endParaRPr sz="1400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901D2-7676-849F-F55A-C8172ED2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000" dirty="0">
                <a:latin typeface="Times New Roman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894264" cy="4037747"/>
          </a:xfrm>
        </p:spPr>
        <p:txBody>
          <a:bodyPr>
            <a:normAutofit fontScale="92500" lnSpcReduction="20000"/>
          </a:bodyPr>
          <a:lstStyle/>
          <a:p>
            <a:r>
              <a:rPr sz="1400" dirty="0">
                <a:latin typeface="Times New Roman"/>
              </a:rPr>
              <a:t>Project Summary</a:t>
            </a:r>
          </a:p>
          <a:p>
            <a:pPr lvl="1"/>
            <a:r>
              <a:rPr sz="1400" dirty="0">
                <a:latin typeface="Times New Roman"/>
              </a:rPr>
              <a:t>Objectives Achieved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Implemented automated CI/CD pipelines for deployment</a:t>
            </a:r>
          </a:p>
          <a:p>
            <a:pPr lvl="2"/>
            <a:r>
              <a:rPr lang="en-US" sz="1400" dirty="0">
                <a:latin typeface="Times New Roman"/>
              </a:rPr>
              <a:t>Successfully deployed microservices on Azure Kubernetes Service (AKS)</a:t>
            </a:r>
          </a:p>
          <a:p>
            <a:pPr lvl="2"/>
            <a:r>
              <a:rPr lang="en-US" sz="1400" dirty="0">
                <a:latin typeface="Times New Roman"/>
              </a:rPr>
              <a:t>Integrated monitoring using Grafana and Prometheus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Benefits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Reduced manual effort and deployment errors</a:t>
            </a:r>
          </a:p>
          <a:p>
            <a:pPr lvl="2"/>
            <a:r>
              <a:rPr lang="en-US" sz="1400" dirty="0">
                <a:latin typeface="Times New Roman"/>
              </a:rPr>
              <a:t>Scalable and highly available system</a:t>
            </a:r>
          </a:p>
          <a:p>
            <a:pPr lvl="2"/>
            <a:r>
              <a:rPr lang="en-US" sz="1400" dirty="0">
                <a:latin typeface="Times New Roman"/>
              </a:rPr>
              <a:t>Real-time monitoring and improved reliability</a:t>
            </a:r>
          </a:p>
          <a:p>
            <a:pPr lvl="2"/>
            <a:r>
              <a:rPr lang="en-US" sz="1400" dirty="0">
                <a:latin typeface="Times New Roman"/>
              </a:rPr>
              <a:t>Secure access using RBAC (Azure AD)</a:t>
            </a:r>
            <a:endParaRPr sz="1400" dirty="0">
              <a:latin typeface="Times New Roman"/>
            </a:endParaRPr>
          </a:p>
          <a:p>
            <a:pPr lvl="1"/>
            <a:r>
              <a:rPr sz="1400" dirty="0">
                <a:latin typeface="Times New Roman"/>
              </a:rPr>
              <a:t>Future Enhancements</a:t>
            </a:r>
            <a:endParaRPr lang="en-US" sz="1400" dirty="0">
              <a:latin typeface="Times New Roman"/>
            </a:endParaRPr>
          </a:p>
          <a:p>
            <a:pPr lvl="2"/>
            <a:r>
              <a:rPr lang="en-US" sz="1400" dirty="0">
                <a:latin typeface="Times New Roman"/>
              </a:rPr>
              <a:t>Implement auto-scaling based on advanced metrics</a:t>
            </a:r>
          </a:p>
          <a:p>
            <a:pPr lvl="2"/>
            <a:r>
              <a:rPr lang="en-US" sz="1400" dirty="0">
                <a:latin typeface="Times New Roman"/>
              </a:rPr>
              <a:t>Add auto-healing and self-recovery mechanisms</a:t>
            </a:r>
          </a:p>
          <a:p>
            <a:pPr lvl="2"/>
            <a:r>
              <a:rPr lang="en-US" sz="1400" dirty="0">
                <a:latin typeface="Times New Roman"/>
              </a:rPr>
              <a:t>Enhance monitoring with AI-based alerts</a:t>
            </a:r>
          </a:p>
          <a:p>
            <a:pPr lvl="2"/>
            <a:r>
              <a:rPr lang="en-US" sz="1400" dirty="0">
                <a:latin typeface="Times New Roman"/>
              </a:rPr>
              <a:t>Extend support for multi-cloud </a:t>
            </a:r>
            <a:r>
              <a:rPr lang="en-US" sz="1400" dirty="0" err="1">
                <a:latin typeface="Times New Roman"/>
              </a:rPr>
              <a:t>deploymen</a:t>
            </a:r>
            <a:endParaRPr sz="1400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3DD13-F247-627A-1751-14C993176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67" y="70962"/>
            <a:ext cx="2272426" cy="4624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C3C44E-E4A7-C1B0-DD3A-53CDE4AD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3787800"/>
          </a:xfrm>
        </p:spPr>
        <p:txBody>
          <a:bodyPr/>
          <a:lstStyle/>
          <a:p>
            <a:r>
              <a:rPr lang="en-US" dirty="0"/>
              <a:t>Thank you….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0879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218</TotalTime>
  <Words>744</Words>
  <Application>Microsoft Office PowerPoint</Application>
  <PresentationFormat>On-screen Show (4:3)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Times New Roman</vt:lpstr>
      <vt:lpstr>Gallery</vt:lpstr>
      <vt:lpstr>Cloud-Based CI/CD Pipeline for Microservices Deployment Architecture</vt:lpstr>
      <vt:lpstr>Abstract / Executive Summary</vt:lpstr>
      <vt:lpstr>Introduction</vt:lpstr>
      <vt:lpstr>System Study</vt:lpstr>
      <vt:lpstr>System Analysis</vt:lpstr>
      <vt:lpstr>System Design</vt:lpstr>
      <vt:lpstr>System Implementation</vt:lpstr>
      <vt:lpstr>System Implementation</vt:lpstr>
      <vt:lpstr>System Implementation</vt:lpstr>
      <vt:lpstr>System Implementation</vt:lpstr>
      <vt:lpstr>Testing</vt:lpstr>
      <vt:lpstr>Testing</vt:lpstr>
      <vt:lpstr>Testing</vt:lpstr>
      <vt:lpstr>Results &amp; Discussion</vt:lpstr>
      <vt:lpstr>Conclusion &amp; Future Scope</vt:lpstr>
      <vt:lpstr>Thank you….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ansika jaiswal</cp:lastModifiedBy>
  <cp:revision>13</cp:revision>
  <dcterms:created xsi:type="dcterms:W3CDTF">2013-01-27T09:14:16Z</dcterms:created>
  <dcterms:modified xsi:type="dcterms:W3CDTF">2026-04-29T13:30:52Z</dcterms:modified>
</cp:coreProperties>
</file>